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054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— Project Gantt Chart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April 2025 — 19 April 2025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" y="658368"/>
            <a:ext cx="2834640" cy="33375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2834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71800" y="658368"/>
            <a:ext cx="685800" cy="33375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017520" y="658368"/>
            <a:ext cx="6858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94760" y="658368"/>
            <a:ext cx="729857" cy="18356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794760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94760" y="841934"/>
            <a:ext cx="729857" cy="150190"/>
          </a:xfrm>
          <a:prstGeom prst="rect">
            <a:avLst/>
          </a:prstGeom>
          <a:solidFill>
            <a:srgbClr val="EEF4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794760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42905" y="658368"/>
            <a:ext cx="729857" cy="18356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542905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42905" y="841934"/>
            <a:ext cx="729857" cy="150190"/>
          </a:xfrm>
          <a:prstGeom prst="rect">
            <a:avLst/>
          </a:prstGeom>
          <a:solidFill>
            <a:srgbClr val="EEF4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42905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91051" y="658368"/>
            <a:ext cx="729857" cy="18356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5291051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91051" y="841934"/>
            <a:ext cx="729857" cy="150190"/>
          </a:xfrm>
          <a:prstGeom prst="rect">
            <a:avLst/>
          </a:prstGeom>
          <a:solidFill>
            <a:srgbClr val="EEF4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5291051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039196" y="658368"/>
            <a:ext cx="729857" cy="18356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6039196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39196" y="841934"/>
            <a:ext cx="729857" cy="15019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6039196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6787342" y="658368"/>
            <a:ext cx="729857" cy="183566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787342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87342" y="841934"/>
            <a:ext cx="729857" cy="15019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787342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535487" y="658368"/>
            <a:ext cx="729857" cy="18356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7535487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35487" y="841934"/>
            <a:ext cx="729857" cy="150190"/>
          </a:xfrm>
          <a:prstGeom prst="rect">
            <a:avLst/>
          </a:prstGeom>
          <a:solidFill>
            <a:srgbClr val="EEF4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7535487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283633" y="658368"/>
            <a:ext cx="729857" cy="18356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8283633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283633" y="841934"/>
            <a:ext cx="729857" cy="150190"/>
          </a:xfrm>
          <a:prstGeom prst="rect">
            <a:avLst/>
          </a:prstGeom>
          <a:solidFill>
            <a:srgbClr val="EEF4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8283633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9031778" y="658368"/>
            <a:ext cx="729857" cy="18356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9031778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031778" y="841934"/>
            <a:ext cx="729857" cy="150190"/>
          </a:xfrm>
          <a:prstGeom prst="rect">
            <a:avLst/>
          </a:prstGeom>
          <a:solidFill>
            <a:srgbClr val="EEF4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9031778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779924" y="658368"/>
            <a:ext cx="729857" cy="18356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9779924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779924" y="841934"/>
            <a:ext cx="729857" cy="150190"/>
          </a:xfrm>
          <a:prstGeom prst="rect">
            <a:avLst/>
          </a:prstGeom>
          <a:solidFill>
            <a:srgbClr val="EEF4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9779924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528069" y="658368"/>
            <a:ext cx="729857" cy="183566"/>
          </a:xfrm>
          <a:prstGeom prst="rect">
            <a:avLst/>
          </a:prstGeom>
          <a:solidFill>
            <a:srgbClr val="0D1B3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4"/>
          <p:cNvSpPr/>
          <p:nvPr/>
        </p:nvSpPr>
        <p:spPr>
          <a:xfrm>
            <a:off x="10528069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528069" y="841934"/>
            <a:ext cx="729857" cy="150190"/>
          </a:xfrm>
          <a:prstGeom prst="rect">
            <a:avLst/>
          </a:prstGeom>
          <a:solidFill>
            <a:srgbClr val="EEF4F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10528069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1276215" y="658368"/>
            <a:ext cx="729857" cy="183566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8"/>
          <p:cNvSpPr/>
          <p:nvPr/>
        </p:nvSpPr>
        <p:spPr>
          <a:xfrm>
            <a:off x="11276215" y="658368"/>
            <a:ext cx="729857" cy="183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276215" y="841934"/>
            <a:ext cx="729857" cy="150190"/>
          </a:xfrm>
          <a:prstGeom prst="rect">
            <a:avLst/>
          </a:prstGeom>
          <a:solidFill>
            <a:srgbClr val="FECDD3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2" name="Text 50"/>
          <p:cNvSpPr/>
          <p:nvPr/>
        </p:nvSpPr>
        <p:spPr>
          <a:xfrm>
            <a:off x="11276215" y="841934"/>
            <a:ext cx="729857" cy="150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37160" y="1325880"/>
            <a:ext cx="1197864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Shape 52"/>
          <p:cNvSpPr/>
          <p:nvPr/>
        </p:nvSpPr>
        <p:spPr>
          <a:xfrm>
            <a:off x="164592" y="1417320"/>
            <a:ext cx="91440" cy="1325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3"/>
          <p:cNvSpPr/>
          <p:nvPr/>
        </p:nvSpPr>
        <p:spPr>
          <a:xfrm>
            <a:off x="301752" y="1325880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&amp; review dataset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9232" y="1325880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794760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8" name="Shape 56"/>
          <p:cNvSpPr/>
          <p:nvPr/>
        </p:nvSpPr>
        <p:spPr>
          <a:xfrm>
            <a:off x="4542905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9" name="Shape 57"/>
          <p:cNvSpPr/>
          <p:nvPr/>
        </p:nvSpPr>
        <p:spPr>
          <a:xfrm>
            <a:off x="5291051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0" name="Shape 58"/>
          <p:cNvSpPr/>
          <p:nvPr/>
        </p:nvSpPr>
        <p:spPr>
          <a:xfrm>
            <a:off x="6039196" y="132588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Shape 59"/>
          <p:cNvSpPr/>
          <p:nvPr/>
        </p:nvSpPr>
        <p:spPr>
          <a:xfrm>
            <a:off x="6039196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2" name="Shape 60"/>
          <p:cNvSpPr/>
          <p:nvPr/>
        </p:nvSpPr>
        <p:spPr>
          <a:xfrm>
            <a:off x="6787342" y="132588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3" name="Shape 61"/>
          <p:cNvSpPr/>
          <p:nvPr/>
        </p:nvSpPr>
        <p:spPr>
          <a:xfrm>
            <a:off x="6787342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4" name="Shape 62"/>
          <p:cNvSpPr/>
          <p:nvPr/>
        </p:nvSpPr>
        <p:spPr>
          <a:xfrm>
            <a:off x="7535487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Shape 63"/>
          <p:cNvSpPr/>
          <p:nvPr/>
        </p:nvSpPr>
        <p:spPr>
          <a:xfrm>
            <a:off x="8283633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Shape 64"/>
          <p:cNvSpPr/>
          <p:nvPr/>
        </p:nvSpPr>
        <p:spPr>
          <a:xfrm>
            <a:off x="9031778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Shape 65"/>
          <p:cNvSpPr/>
          <p:nvPr/>
        </p:nvSpPr>
        <p:spPr>
          <a:xfrm>
            <a:off x="9779924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8" name="Shape 66"/>
          <p:cNvSpPr/>
          <p:nvPr/>
        </p:nvSpPr>
        <p:spPr>
          <a:xfrm>
            <a:off x="10528069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9" name="Shape 67"/>
          <p:cNvSpPr/>
          <p:nvPr/>
        </p:nvSpPr>
        <p:spPr>
          <a:xfrm>
            <a:off x="11276215" y="132588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Shape 68"/>
          <p:cNvSpPr/>
          <p:nvPr/>
        </p:nvSpPr>
        <p:spPr>
          <a:xfrm>
            <a:off x="11276215" y="132588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Shape 69"/>
          <p:cNvSpPr/>
          <p:nvPr/>
        </p:nvSpPr>
        <p:spPr>
          <a:xfrm>
            <a:off x="3822192" y="1389888"/>
            <a:ext cx="674993" cy="187452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2" name="Shape 70"/>
          <p:cNvSpPr/>
          <p:nvPr/>
        </p:nvSpPr>
        <p:spPr>
          <a:xfrm>
            <a:off x="3822192" y="1389888"/>
            <a:ext cx="64008" cy="1874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3" name="Text 71"/>
          <p:cNvSpPr/>
          <p:nvPr/>
        </p:nvSpPr>
        <p:spPr>
          <a:xfrm>
            <a:off x="4241153" y="1389888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137160" y="1659636"/>
            <a:ext cx="11978640" cy="3154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Shape 73"/>
          <p:cNvSpPr/>
          <p:nvPr/>
        </p:nvSpPr>
        <p:spPr>
          <a:xfrm>
            <a:off x="164592" y="1751076"/>
            <a:ext cx="91440" cy="1325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6" name="Text 74"/>
          <p:cNvSpPr/>
          <p:nvPr/>
        </p:nvSpPr>
        <p:spPr>
          <a:xfrm>
            <a:off x="301752" y="1659636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data structure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2999232" y="1659636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794760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Shape 77"/>
          <p:cNvSpPr/>
          <p:nvPr/>
        </p:nvSpPr>
        <p:spPr>
          <a:xfrm>
            <a:off x="4542905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0" name="Shape 78"/>
          <p:cNvSpPr/>
          <p:nvPr/>
        </p:nvSpPr>
        <p:spPr>
          <a:xfrm>
            <a:off x="5291051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1" name="Shape 79"/>
          <p:cNvSpPr/>
          <p:nvPr/>
        </p:nvSpPr>
        <p:spPr>
          <a:xfrm>
            <a:off x="6039196" y="165963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Shape 80"/>
          <p:cNvSpPr/>
          <p:nvPr/>
        </p:nvSpPr>
        <p:spPr>
          <a:xfrm>
            <a:off x="6039196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3" name="Shape 81"/>
          <p:cNvSpPr/>
          <p:nvPr/>
        </p:nvSpPr>
        <p:spPr>
          <a:xfrm>
            <a:off x="6787342" y="165963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4" name="Shape 82"/>
          <p:cNvSpPr/>
          <p:nvPr/>
        </p:nvSpPr>
        <p:spPr>
          <a:xfrm>
            <a:off x="6787342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5" name="Shape 83"/>
          <p:cNvSpPr/>
          <p:nvPr/>
        </p:nvSpPr>
        <p:spPr>
          <a:xfrm>
            <a:off x="7535487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6" name="Shape 84"/>
          <p:cNvSpPr/>
          <p:nvPr/>
        </p:nvSpPr>
        <p:spPr>
          <a:xfrm>
            <a:off x="8283633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7" name="Shape 85"/>
          <p:cNvSpPr/>
          <p:nvPr/>
        </p:nvSpPr>
        <p:spPr>
          <a:xfrm>
            <a:off x="9031778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8" name="Shape 86"/>
          <p:cNvSpPr/>
          <p:nvPr/>
        </p:nvSpPr>
        <p:spPr>
          <a:xfrm>
            <a:off x="9779924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9" name="Shape 87"/>
          <p:cNvSpPr/>
          <p:nvPr/>
        </p:nvSpPr>
        <p:spPr>
          <a:xfrm>
            <a:off x="10528069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0" name="Shape 88"/>
          <p:cNvSpPr/>
          <p:nvPr/>
        </p:nvSpPr>
        <p:spPr>
          <a:xfrm>
            <a:off x="11276215" y="165963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1" name="Shape 89"/>
          <p:cNvSpPr/>
          <p:nvPr/>
        </p:nvSpPr>
        <p:spPr>
          <a:xfrm>
            <a:off x="11276215" y="165963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2" name="Shape 90"/>
          <p:cNvSpPr/>
          <p:nvPr/>
        </p:nvSpPr>
        <p:spPr>
          <a:xfrm>
            <a:off x="3822192" y="1723644"/>
            <a:ext cx="1423139" cy="187452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3" name="Shape 91"/>
          <p:cNvSpPr/>
          <p:nvPr/>
        </p:nvSpPr>
        <p:spPr>
          <a:xfrm>
            <a:off x="3822192" y="1723644"/>
            <a:ext cx="64008" cy="1874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4" name="Text 92"/>
          <p:cNvSpPr/>
          <p:nvPr/>
        </p:nvSpPr>
        <p:spPr>
          <a:xfrm>
            <a:off x="4989299" y="1723644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137160" y="1993392"/>
            <a:ext cx="1197864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6" name="Shape 94"/>
          <p:cNvSpPr/>
          <p:nvPr/>
        </p:nvSpPr>
        <p:spPr>
          <a:xfrm>
            <a:off x="164592" y="2084832"/>
            <a:ext cx="91440" cy="1325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7" name="Text 95"/>
          <p:cNvSpPr/>
          <p:nvPr/>
        </p:nvSpPr>
        <p:spPr>
          <a:xfrm>
            <a:off x="301752" y="1993392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cs typeface="Calibri" pitchFamily="34" charset="-120"/>
              </a:rPr>
              <a:t>Separate tables on excel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2999232" y="1993392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794760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0" name="Shape 98"/>
          <p:cNvSpPr/>
          <p:nvPr/>
        </p:nvSpPr>
        <p:spPr>
          <a:xfrm>
            <a:off x="4542905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1" name="Shape 99"/>
          <p:cNvSpPr/>
          <p:nvPr/>
        </p:nvSpPr>
        <p:spPr>
          <a:xfrm>
            <a:off x="5291051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2" name="Shape 100"/>
          <p:cNvSpPr/>
          <p:nvPr/>
        </p:nvSpPr>
        <p:spPr>
          <a:xfrm>
            <a:off x="6039196" y="199339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3" name="Shape 101"/>
          <p:cNvSpPr/>
          <p:nvPr/>
        </p:nvSpPr>
        <p:spPr>
          <a:xfrm>
            <a:off x="6039196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4" name="Shape 102"/>
          <p:cNvSpPr/>
          <p:nvPr/>
        </p:nvSpPr>
        <p:spPr>
          <a:xfrm>
            <a:off x="6787342" y="199339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5" name="Shape 103"/>
          <p:cNvSpPr/>
          <p:nvPr/>
        </p:nvSpPr>
        <p:spPr>
          <a:xfrm>
            <a:off x="6787342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6" name="Shape 104"/>
          <p:cNvSpPr/>
          <p:nvPr/>
        </p:nvSpPr>
        <p:spPr>
          <a:xfrm>
            <a:off x="7535487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7" name="Shape 105"/>
          <p:cNvSpPr/>
          <p:nvPr/>
        </p:nvSpPr>
        <p:spPr>
          <a:xfrm>
            <a:off x="8283633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8" name="Shape 106"/>
          <p:cNvSpPr/>
          <p:nvPr/>
        </p:nvSpPr>
        <p:spPr>
          <a:xfrm>
            <a:off x="9031778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9" name="Shape 107"/>
          <p:cNvSpPr/>
          <p:nvPr/>
        </p:nvSpPr>
        <p:spPr>
          <a:xfrm>
            <a:off x="9779924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0" name="Shape 108"/>
          <p:cNvSpPr/>
          <p:nvPr/>
        </p:nvSpPr>
        <p:spPr>
          <a:xfrm>
            <a:off x="10528069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1" name="Shape 109"/>
          <p:cNvSpPr/>
          <p:nvPr/>
        </p:nvSpPr>
        <p:spPr>
          <a:xfrm>
            <a:off x="11276215" y="199339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2" name="Shape 110"/>
          <p:cNvSpPr/>
          <p:nvPr/>
        </p:nvSpPr>
        <p:spPr>
          <a:xfrm>
            <a:off x="11276215" y="199339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3" name="Shape 111"/>
          <p:cNvSpPr/>
          <p:nvPr/>
        </p:nvSpPr>
        <p:spPr>
          <a:xfrm>
            <a:off x="4570337" y="2057400"/>
            <a:ext cx="674993" cy="187452"/>
          </a:xfrm>
          <a:prstGeom prst="rect">
            <a:avLst/>
          </a:prstGeom>
          <a:solidFill>
            <a:srgbClr val="028090">
              <a:alpha val="80000"/>
            </a:srgbClr>
          </a:solidFill>
          <a:ln w="63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4" name="Shape 112"/>
          <p:cNvSpPr/>
          <p:nvPr/>
        </p:nvSpPr>
        <p:spPr>
          <a:xfrm>
            <a:off x="4570337" y="2057400"/>
            <a:ext cx="64008" cy="18745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5" name="Text 113"/>
          <p:cNvSpPr/>
          <p:nvPr/>
        </p:nvSpPr>
        <p:spPr>
          <a:xfrm>
            <a:off x="4989299" y="2057400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37160" y="2327148"/>
            <a:ext cx="11978640" cy="3154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7" name="Shape 115"/>
          <p:cNvSpPr/>
          <p:nvPr/>
        </p:nvSpPr>
        <p:spPr>
          <a:xfrm>
            <a:off x="164592" y="2418588"/>
            <a:ext cx="91440" cy="1325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8" name="Text 116"/>
          <p:cNvSpPr/>
          <p:nvPr/>
        </p:nvSpPr>
        <p:spPr>
          <a:xfrm>
            <a:off x="301752" y="2327148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tables in Databricks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2999232" y="2327148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3794760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1" name="Shape 119"/>
          <p:cNvSpPr/>
          <p:nvPr/>
        </p:nvSpPr>
        <p:spPr>
          <a:xfrm>
            <a:off x="4542905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2" name="Shape 120"/>
          <p:cNvSpPr/>
          <p:nvPr/>
        </p:nvSpPr>
        <p:spPr>
          <a:xfrm>
            <a:off x="5291051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3" name="Shape 121"/>
          <p:cNvSpPr/>
          <p:nvPr/>
        </p:nvSpPr>
        <p:spPr>
          <a:xfrm>
            <a:off x="6039196" y="232714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4" name="Shape 122"/>
          <p:cNvSpPr/>
          <p:nvPr/>
        </p:nvSpPr>
        <p:spPr>
          <a:xfrm>
            <a:off x="6039196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5" name="Shape 123"/>
          <p:cNvSpPr/>
          <p:nvPr/>
        </p:nvSpPr>
        <p:spPr>
          <a:xfrm>
            <a:off x="6787342" y="232714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6" name="Shape 124"/>
          <p:cNvSpPr/>
          <p:nvPr/>
        </p:nvSpPr>
        <p:spPr>
          <a:xfrm>
            <a:off x="6787342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7" name="Shape 125"/>
          <p:cNvSpPr/>
          <p:nvPr/>
        </p:nvSpPr>
        <p:spPr>
          <a:xfrm>
            <a:off x="7535487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8" name="Shape 126"/>
          <p:cNvSpPr/>
          <p:nvPr/>
        </p:nvSpPr>
        <p:spPr>
          <a:xfrm>
            <a:off x="8283633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9" name="Shape 127"/>
          <p:cNvSpPr/>
          <p:nvPr/>
        </p:nvSpPr>
        <p:spPr>
          <a:xfrm>
            <a:off x="9031778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0" name="Shape 128"/>
          <p:cNvSpPr/>
          <p:nvPr/>
        </p:nvSpPr>
        <p:spPr>
          <a:xfrm>
            <a:off x="9779924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1" name="Shape 129"/>
          <p:cNvSpPr/>
          <p:nvPr/>
        </p:nvSpPr>
        <p:spPr>
          <a:xfrm>
            <a:off x="10528069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2" name="Shape 130"/>
          <p:cNvSpPr/>
          <p:nvPr/>
        </p:nvSpPr>
        <p:spPr>
          <a:xfrm>
            <a:off x="11276215" y="232714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3" name="Shape 131"/>
          <p:cNvSpPr/>
          <p:nvPr/>
        </p:nvSpPr>
        <p:spPr>
          <a:xfrm>
            <a:off x="11276215" y="232714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4" name="Shape 132"/>
          <p:cNvSpPr/>
          <p:nvPr/>
        </p:nvSpPr>
        <p:spPr>
          <a:xfrm>
            <a:off x="5318483" y="2391156"/>
            <a:ext cx="1423139" cy="187452"/>
          </a:xfrm>
          <a:prstGeom prst="rect">
            <a:avLst/>
          </a:prstGeom>
          <a:solidFill>
            <a:srgbClr val="F4A261">
              <a:alpha val="80000"/>
            </a:srgbClr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5" name="Shape 133"/>
          <p:cNvSpPr/>
          <p:nvPr/>
        </p:nvSpPr>
        <p:spPr>
          <a:xfrm>
            <a:off x="5318483" y="2391156"/>
            <a:ext cx="64008" cy="1874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6" name="Text 134"/>
          <p:cNvSpPr/>
          <p:nvPr/>
        </p:nvSpPr>
        <p:spPr>
          <a:xfrm>
            <a:off x="6485590" y="2391156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137160" y="2660904"/>
            <a:ext cx="1197864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8" name="Shape 136"/>
          <p:cNvSpPr/>
          <p:nvPr/>
        </p:nvSpPr>
        <p:spPr>
          <a:xfrm>
            <a:off x="164592" y="2752344"/>
            <a:ext cx="91440" cy="1325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9" name="Text 137"/>
          <p:cNvSpPr/>
          <p:nvPr/>
        </p:nvSpPr>
        <p:spPr>
          <a:xfrm>
            <a:off x="301752" y="2660904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UTC to SAST conversion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2999232" y="2660904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3794760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2" name="Shape 140"/>
          <p:cNvSpPr/>
          <p:nvPr/>
        </p:nvSpPr>
        <p:spPr>
          <a:xfrm>
            <a:off x="4542905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3" name="Shape 141"/>
          <p:cNvSpPr/>
          <p:nvPr/>
        </p:nvSpPr>
        <p:spPr>
          <a:xfrm>
            <a:off x="5291051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4" name="Shape 142"/>
          <p:cNvSpPr/>
          <p:nvPr/>
        </p:nvSpPr>
        <p:spPr>
          <a:xfrm>
            <a:off x="6039196" y="266090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5" name="Shape 143"/>
          <p:cNvSpPr/>
          <p:nvPr/>
        </p:nvSpPr>
        <p:spPr>
          <a:xfrm>
            <a:off x="6039196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6" name="Shape 144"/>
          <p:cNvSpPr/>
          <p:nvPr/>
        </p:nvSpPr>
        <p:spPr>
          <a:xfrm>
            <a:off x="6787342" y="266090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7" name="Shape 145"/>
          <p:cNvSpPr/>
          <p:nvPr/>
        </p:nvSpPr>
        <p:spPr>
          <a:xfrm>
            <a:off x="6787342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8" name="Shape 146"/>
          <p:cNvSpPr/>
          <p:nvPr/>
        </p:nvSpPr>
        <p:spPr>
          <a:xfrm>
            <a:off x="7535487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9" name="Shape 147"/>
          <p:cNvSpPr/>
          <p:nvPr/>
        </p:nvSpPr>
        <p:spPr>
          <a:xfrm>
            <a:off x="8283633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0" name="Shape 148"/>
          <p:cNvSpPr/>
          <p:nvPr/>
        </p:nvSpPr>
        <p:spPr>
          <a:xfrm>
            <a:off x="9031778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1" name="Shape 149"/>
          <p:cNvSpPr/>
          <p:nvPr/>
        </p:nvSpPr>
        <p:spPr>
          <a:xfrm>
            <a:off x="9779924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2" name="Shape 150"/>
          <p:cNvSpPr/>
          <p:nvPr/>
        </p:nvSpPr>
        <p:spPr>
          <a:xfrm>
            <a:off x="10528069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3" name="Shape 151"/>
          <p:cNvSpPr/>
          <p:nvPr/>
        </p:nvSpPr>
        <p:spPr>
          <a:xfrm>
            <a:off x="11276215" y="266090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4" name="Shape 152"/>
          <p:cNvSpPr/>
          <p:nvPr/>
        </p:nvSpPr>
        <p:spPr>
          <a:xfrm>
            <a:off x="11276215" y="266090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5" name="Shape 153"/>
          <p:cNvSpPr/>
          <p:nvPr/>
        </p:nvSpPr>
        <p:spPr>
          <a:xfrm>
            <a:off x="5318483" y="2724912"/>
            <a:ext cx="674993" cy="187452"/>
          </a:xfrm>
          <a:prstGeom prst="rect">
            <a:avLst/>
          </a:prstGeom>
          <a:solidFill>
            <a:srgbClr val="F4A261">
              <a:alpha val="80000"/>
            </a:srgbClr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6" name="Shape 154"/>
          <p:cNvSpPr/>
          <p:nvPr/>
        </p:nvSpPr>
        <p:spPr>
          <a:xfrm>
            <a:off x="5318483" y="2724912"/>
            <a:ext cx="64008" cy="1874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7" name="Text 155"/>
          <p:cNvSpPr/>
          <p:nvPr/>
        </p:nvSpPr>
        <p:spPr>
          <a:xfrm>
            <a:off x="5737444" y="2724912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137160" y="2994660"/>
            <a:ext cx="11978640" cy="3154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9" name="Shape 157"/>
          <p:cNvSpPr/>
          <p:nvPr/>
        </p:nvSpPr>
        <p:spPr>
          <a:xfrm>
            <a:off x="164592" y="3086100"/>
            <a:ext cx="91440" cy="13258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0" name="Text 158"/>
          <p:cNvSpPr/>
          <p:nvPr/>
        </p:nvSpPr>
        <p:spPr>
          <a:xfrm>
            <a:off x="301752" y="2994660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export dataset to Excel</a:t>
            </a:r>
            <a:endParaRPr lang="en-US" sz="850" dirty="0"/>
          </a:p>
        </p:txBody>
      </p:sp>
      <p:sp>
        <p:nvSpPr>
          <p:cNvPr id="161" name="Text 159"/>
          <p:cNvSpPr/>
          <p:nvPr/>
        </p:nvSpPr>
        <p:spPr>
          <a:xfrm>
            <a:off x="2999232" y="2994660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3794760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3" name="Shape 161"/>
          <p:cNvSpPr/>
          <p:nvPr/>
        </p:nvSpPr>
        <p:spPr>
          <a:xfrm>
            <a:off x="4542905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4" name="Shape 162"/>
          <p:cNvSpPr/>
          <p:nvPr/>
        </p:nvSpPr>
        <p:spPr>
          <a:xfrm>
            <a:off x="5291051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5" name="Shape 163"/>
          <p:cNvSpPr/>
          <p:nvPr/>
        </p:nvSpPr>
        <p:spPr>
          <a:xfrm>
            <a:off x="6039196" y="299466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6" name="Shape 164"/>
          <p:cNvSpPr/>
          <p:nvPr/>
        </p:nvSpPr>
        <p:spPr>
          <a:xfrm>
            <a:off x="6039196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7" name="Shape 165"/>
          <p:cNvSpPr/>
          <p:nvPr/>
        </p:nvSpPr>
        <p:spPr>
          <a:xfrm>
            <a:off x="6787342" y="299466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8" name="Shape 166"/>
          <p:cNvSpPr/>
          <p:nvPr/>
        </p:nvSpPr>
        <p:spPr>
          <a:xfrm>
            <a:off x="6787342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9" name="Shape 167"/>
          <p:cNvSpPr/>
          <p:nvPr/>
        </p:nvSpPr>
        <p:spPr>
          <a:xfrm>
            <a:off x="7535487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0" name="Shape 168"/>
          <p:cNvSpPr/>
          <p:nvPr/>
        </p:nvSpPr>
        <p:spPr>
          <a:xfrm>
            <a:off x="8283633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1" name="Shape 169"/>
          <p:cNvSpPr/>
          <p:nvPr/>
        </p:nvSpPr>
        <p:spPr>
          <a:xfrm>
            <a:off x="9031778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2" name="Shape 170"/>
          <p:cNvSpPr/>
          <p:nvPr/>
        </p:nvSpPr>
        <p:spPr>
          <a:xfrm>
            <a:off x="9779924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3" name="Shape 171"/>
          <p:cNvSpPr/>
          <p:nvPr/>
        </p:nvSpPr>
        <p:spPr>
          <a:xfrm>
            <a:off x="10528069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4" name="Shape 172"/>
          <p:cNvSpPr/>
          <p:nvPr/>
        </p:nvSpPr>
        <p:spPr>
          <a:xfrm>
            <a:off x="11276215" y="299466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5" name="Shape 173"/>
          <p:cNvSpPr/>
          <p:nvPr/>
        </p:nvSpPr>
        <p:spPr>
          <a:xfrm>
            <a:off x="11276215" y="299466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6" name="Shape 174"/>
          <p:cNvSpPr/>
          <p:nvPr/>
        </p:nvSpPr>
        <p:spPr>
          <a:xfrm>
            <a:off x="6066628" y="3058668"/>
            <a:ext cx="2171284" cy="187452"/>
          </a:xfrm>
          <a:prstGeom prst="rect">
            <a:avLst/>
          </a:prstGeom>
          <a:solidFill>
            <a:srgbClr val="F4A261">
              <a:alpha val="80000"/>
            </a:srgbClr>
          </a:solidFill>
          <a:ln w="635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7" name="Shape 175"/>
          <p:cNvSpPr/>
          <p:nvPr/>
        </p:nvSpPr>
        <p:spPr>
          <a:xfrm>
            <a:off x="6066628" y="3058668"/>
            <a:ext cx="64008" cy="1874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8" name="Text 176"/>
          <p:cNvSpPr/>
          <p:nvPr/>
        </p:nvSpPr>
        <p:spPr>
          <a:xfrm>
            <a:off x="7981881" y="3058668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79" name="Shape 177"/>
          <p:cNvSpPr/>
          <p:nvPr/>
        </p:nvSpPr>
        <p:spPr>
          <a:xfrm>
            <a:off x="137160" y="3328416"/>
            <a:ext cx="1197864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0" name="Shape 178"/>
          <p:cNvSpPr/>
          <p:nvPr/>
        </p:nvSpPr>
        <p:spPr>
          <a:xfrm>
            <a:off x="164592" y="3419856"/>
            <a:ext cx="91440" cy="1325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1" name="Text 179"/>
          <p:cNvSpPr/>
          <p:nvPr/>
        </p:nvSpPr>
        <p:spPr>
          <a:xfrm>
            <a:off x="301752" y="3328416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 tables in Excel</a:t>
            </a:r>
            <a:endParaRPr lang="en-US" sz="850" dirty="0"/>
          </a:p>
        </p:txBody>
      </p:sp>
      <p:sp>
        <p:nvSpPr>
          <p:cNvPr id="182" name="Text 180"/>
          <p:cNvSpPr/>
          <p:nvPr/>
        </p:nvSpPr>
        <p:spPr>
          <a:xfrm>
            <a:off x="2999232" y="3328416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183" name="Shape 181"/>
          <p:cNvSpPr/>
          <p:nvPr/>
        </p:nvSpPr>
        <p:spPr>
          <a:xfrm>
            <a:off x="3794760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4" name="Shape 182"/>
          <p:cNvSpPr/>
          <p:nvPr/>
        </p:nvSpPr>
        <p:spPr>
          <a:xfrm>
            <a:off x="4542905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5" name="Shape 183"/>
          <p:cNvSpPr/>
          <p:nvPr/>
        </p:nvSpPr>
        <p:spPr>
          <a:xfrm>
            <a:off x="5291051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6" name="Shape 184"/>
          <p:cNvSpPr/>
          <p:nvPr/>
        </p:nvSpPr>
        <p:spPr>
          <a:xfrm>
            <a:off x="6039196" y="332841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7" name="Shape 185"/>
          <p:cNvSpPr/>
          <p:nvPr/>
        </p:nvSpPr>
        <p:spPr>
          <a:xfrm>
            <a:off x="6039196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8" name="Shape 186"/>
          <p:cNvSpPr/>
          <p:nvPr/>
        </p:nvSpPr>
        <p:spPr>
          <a:xfrm>
            <a:off x="6787342" y="332841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9" name="Shape 187"/>
          <p:cNvSpPr/>
          <p:nvPr/>
        </p:nvSpPr>
        <p:spPr>
          <a:xfrm>
            <a:off x="6787342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0" name="Shape 188"/>
          <p:cNvSpPr/>
          <p:nvPr/>
        </p:nvSpPr>
        <p:spPr>
          <a:xfrm>
            <a:off x="7535487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1" name="Shape 189"/>
          <p:cNvSpPr/>
          <p:nvPr/>
        </p:nvSpPr>
        <p:spPr>
          <a:xfrm>
            <a:off x="8283633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2" name="Shape 190"/>
          <p:cNvSpPr/>
          <p:nvPr/>
        </p:nvSpPr>
        <p:spPr>
          <a:xfrm>
            <a:off x="9031778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3" name="Shape 191"/>
          <p:cNvSpPr/>
          <p:nvPr/>
        </p:nvSpPr>
        <p:spPr>
          <a:xfrm>
            <a:off x="9779924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4" name="Shape 192"/>
          <p:cNvSpPr/>
          <p:nvPr/>
        </p:nvSpPr>
        <p:spPr>
          <a:xfrm>
            <a:off x="10528069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5" name="Shape 193"/>
          <p:cNvSpPr/>
          <p:nvPr/>
        </p:nvSpPr>
        <p:spPr>
          <a:xfrm>
            <a:off x="11276215" y="332841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6" name="Shape 194"/>
          <p:cNvSpPr/>
          <p:nvPr/>
        </p:nvSpPr>
        <p:spPr>
          <a:xfrm>
            <a:off x="11276215" y="332841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7" name="Shape 195"/>
          <p:cNvSpPr/>
          <p:nvPr/>
        </p:nvSpPr>
        <p:spPr>
          <a:xfrm>
            <a:off x="7562919" y="3392424"/>
            <a:ext cx="2171284" cy="187452"/>
          </a:xfrm>
          <a:prstGeom prst="rect">
            <a:avLst/>
          </a:prstGeom>
          <a:solidFill>
            <a:srgbClr val="E63946">
              <a:alpha val="80000"/>
            </a:srgbClr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8" name="Shape 196"/>
          <p:cNvSpPr/>
          <p:nvPr/>
        </p:nvSpPr>
        <p:spPr>
          <a:xfrm>
            <a:off x="7562919" y="3392424"/>
            <a:ext cx="64008" cy="1874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9" name="Text 197"/>
          <p:cNvSpPr/>
          <p:nvPr/>
        </p:nvSpPr>
        <p:spPr>
          <a:xfrm>
            <a:off x="9478172" y="3392424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137160" y="3662172"/>
            <a:ext cx="11978640" cy="3154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1" name="Shape 199"/>
          <p:cNvSpPr/>
          <p:nvPr/>
        </p:nvSpPr>
        <p:spPr>
          <a:xfrm>
            <a:off x="164592" y="3753612"/>
            <a:ext cx="91440" cy="1325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2" name="Text 200"/>
          <p:cNvSpPr/>
          <p:nvPr/>
        </p:nvSpPr>
        <p:spPr>
          <a:xfrm>
            <a:off x="301752" y="3662172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key metrics</a:t>
            </a:r>
            <a:endParaRPr lang="en-US" sz="850" dirty="0"/>
          </a:p>
        </p:txBody>
      </p:sp>
      <p:sp>
        <p:nvSpPr>
          <p:cNvPr id="203" name="Text 201"/>
          <p:cNvSpPr/>
          <p:nvPr/>
        </p:nvSpPr>
        <p:spPr>
          <a:xfrm>
            <a:off x="2999232" y="3662172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3794760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5" name="Shape 203"/>
          <p:cNvSpPr/>
          <p:nvPr/>
        </p:nvSpPr>
        <p:spPr>
          <a:xfrm>
            <a:off x="4542905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6" name="Shape 204"/>
          <p:cNvSpPr/>
          <p:nvPr/>
        </p:nvSpPr>
        <p:spPr>
          <a:xfrm>
            <a:off x="5291051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7" name="Shape 205"/>
          <p:cNvSpPr/>
          <p:nvPr/>
        </p:nvSpPr>
        <p:spPr>
          <a:xfrm>
            <a:off x="6039196" y="366217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8" name="Shape 206"/>
          <p:cNvSpPr/>
          <p:nvPr/>
        </p:nvSpPr>
        <p:spPr>
          <a:xfrm>
            <a:off x="6039196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9" name="Shape 207"/>
          <p:cNvSpPr/>
          <p:nvPr/>
        </p:nvSpPr>
        <p:spPr>
          <a:xfrm>
            <a:off x="6787342" y="366217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0" name="Shape 208"/>
          <p:cNvSpPr/>
          <p:nvPr/>
        </p:nvSpPr>
        <p:spPr>
          <a:xfrm>
            <a:off x="6787342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1" name="Shape 209"/>
          <p:cNvSpPr/>
          <p:nvPr/>
        </p:nvSpPr>
        <p:spPr>
          <a:xfrm>
            <a:off x="7535487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2" name="Shape 210"/>
          <p:cNvSpPr/>
          <p:nvPr/>
        </p:nvSpPr>
        <p:spPr>
          <a:xfrm>
            <a:off x="8283633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3" name="Shape 211"/>
          <p:cNvSpPr/>
          <p:nvPr/>
        </p:nvSpPr>
        <p:spPr>
          <a:xfrm>
            <a:off x="9031778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4" name="Shape 212"/>
          <p:cNvSpPr/>
          <p:nvPr/>
        </p:nvSpPr>
        <p:spPr>
          <a:xfrm>
            <a:off x="9779924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5" name="Shape 213"/>
          <p:cNvSpPr/>
          <p:nvPr/>
        </p:nvSpPr>
        <p:spPr>
          <a:xfrm>
            <a:off x="10528069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6" name="Shape 214"/>
          <p:cNvSpPr/>
          <p:nvPr/>
        </p:nvSpPr>
        <p:spPr>
          <a:xfrm>
            <a:off x="11276215" y="366217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7" name="Shape 215"/>
          <p:cNvSpPr/>
          <p:nvPr/>
        </p:nvSpPr>
        <p:spPr>
          <a:xfrm>
            <a:off x="11276215" y="366217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8" name="Shape 216"/>
          <p:cNvSpPr/>
          <p:nvPr/>
        </p:nvSpPr>
        <p:spPr>
          <a:xfrm>
            <a:off x="8311065" y="3726180"/>
            <a:ext cx="1423139" cy="187452"/>
          </a:xfrm>
          <a:prstGeom prst="rect">
            <a:avLst/>
          </a:prstGeom>
          <a:solidFill>
            <a:srgbClr val="E63946">
              <a:alpha val="80000"/>
            </a:srgbClr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9" name="Shape 217"/>
          <p:cNvSpPr/>
          <p:nvPr/>
        </p:nvSpPr>
        <p:spPr>
          <a:xfrm>
            <a:off x="8311065" y="3726180"/>
            <a:ext cx="64008" cy="1874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0" name="Text 218"/>
          <p:cNvSpPr/>
          <p:nvPr/>
        </p:nvSpPr>
        <p:spPr>
          <a:xfrm>
            <a:off x="9478172" y="3726180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21" name="Shape 219"/>
          <p:cNvSpPr/>
          <p:nvPr/>
        </p:nvSpPr>
        <p:spPr>
          <a:xfrm>
            <a:off x="137160" y="3995928"/>
            <a:ext cx="1197864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2" name="Shape 220"/>
          <p:cNvSpPr/>
          <p:nvPr/>
        </p:nvSpPr>
        <p:spPr>
          <a:xfrm>
            <a:off x="164592" y="4087368"/>
            <a:ext cx="91440" cy="13258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3" name="Text 221"/>
          <p:cNvSpPr/>
          <p:nvPr/>
        </p:nvSpPr>
        <p:spPr>
          <a:xfrm>
            <a:off x="301752" y="3995928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 &amp; patterns</a:t>
            </a:r>
            <a:endParaRPr lang="en-US" sz="850" dirty="0"/>
          </a:p>
        </p:txBody>
      </p:sp>
      <p:sp>
        <p:nvSpPr>
          <p:cNvPr id="224" name="Text 222"/>
          <p:cNvSpPr/>
          <p:nvPr/>
        </p:nvSpPr>
        <p:spPr>
          <a:xfrm>
            <a:off x="2999232" y="3995928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25" name="Shape 223"/>
          <p:cNvSpPr/>
          <p:nvPr/>
        </p:nvSpPr>
        <p:spPr>
          <a:xfrm>
            <a:off x="3794760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6" name="Shape 224"/>
          <p:cNvSpPr/>
          <p:nvPr/>
        </p:nvSpPr>
        <p:spPr>
          <a:xfrm>
            <a:off x="4542905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7" name="Shape 225"/>
          <p:cNvSpPr/>
          <p:nvPr/>
        </p:nvSpPr>
        <p:spPr>
          <a:xfrm>
            <a:off x="5291051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8" name="Shape 226"/>
          <p:cNvSpPr/>
          <p:nvPr/>
        </p:nvSpPr>
        <p:spPr>
          <a:xfrm>
            <a:off x="6039196" y="399592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9" name="Shape 227"/>
          <p:cNvSpPr/>
          <p:nvPr/>
        </p:nvSpPr>
        <p:spPr>
          <a:xfrm>
            <a:off x="6039196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0" name="Shape 228"/>
          <p:cNvSpPr/>
          <p:nvPr/>
        </p:nvSpPr>
        <p:spPr>
          <a:xfrm>
            <a:off x="6787342" y="399592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1" name="Shape 229"/>
          <p:cNvSpPr/>
          <p:nvPr/>
        </p:nvSpPr>
        <p:spPr>
          <a:xfrm>
            <a:off x="6787342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2" name="Shape 230"/>
          <p:cNvSpPr/>
          <p:nvPr/>
        </p:nvSpPr>
        <p:spPr>
          <a:xfrm>
            <a:off x="7535487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3" name="Shape 231"/>
          <p:cNvSpPr/>
          <p:nvPr/>
        </p:nvSpPr>
        <p:spPr>
          <a:xfrm>
            <a:off x="8283633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4" name="Shape 232"/>
          <p:cNvSpPr/>
          <p:nvPr/>
        </p:nvSpPr>
        <p:spPr>
          <a:xfrm>
            <a:off x="9031778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5" name="Shape 233"/>
          <p:cNvSpPr/>
          <p:nvPr/>
        </p:nvSpPr>
        <p:spPr>
          <a:xfrm>
            <a:off x="9779924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6" name="Shape 234"/>
          <p:cNvSpPr/>
          <p:nvPr/>
        </p:nvSpPr>
        <p:spPr>
          <a:xfrm>
            <a:off x="10528069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7" name="Shape 235"/>
          <p:cNvSpPr/>
          <p:nvPr/>
        </p:nvSpPr>
        <p:spPr>
          <a:xfrm>
            <a:off x="11276215" y="399592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8" name="Shape 236"/>
          <p:cNvSpPr/>
          <p:nvPr/>
        </p:nvSpPr>
        <p:spPr>
          <a:xfrm>
            <a:off x="11276215" y="399592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9" name="Shape 237"/>
          <p:cNvSpPr/>
          <p:nvPr/>
        </p:nvSpPr>
        <p:spPr>
          <a:xfrm>
            <a:off x="9059210" y="4059936"/>
            <a:ext cx="1423139" cy="187452"/>
          </a:xfrm>
          <a:prstGeom prst="rect">
            <a:avLst/>
          </a:prstGeom>
          <a:solidFill>
            <a:srgbClr val="E63946">
              <a:alpha val="80000"/>
            </a:srgbClr>
          </a:solidFill>
          <a:ln w="63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0" name="Shape 238"/>
          <p:cNvSpPr/>
          <p:nvPr/>
        </p:nvSpPr>
        <p:spPr>
          <a:xfrm>
            <a:off x="9059210" y="4059936"/>
            <a:ext cx="64008" cy="1874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1" name="Text 239"/>
          <p:cNvSpPr/>
          <p:nvPr/>
        </p:nvSpPr>
        <p:spPr>
          <a:xfrm>
            <a:off x="10226317" y="4059936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137160" y="4329684"/>
            <a:ext cx="11978640" cy="3154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3" name="Shape 241"/>
          <p:cNvSpPr/>
          <p:nvPr/>
        </p:nvSpPr>
        <p:spPr>
          <a:xfrm>
            <a:off x="164592" y="4421124"/>
            <a:ext cx="91440" cy="132588"/>
          </a:xfrm>
          <a:prstGeom prst="rect">
            <a:avLst/>
          </a:prstGeom>
          <a:solidFill>
            <a:srgbClr val="6B48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4" name="Text 242"/>
          <p:cNvSpPr/>
          <p:nvPr/>
        </p:nvSpPr>
        <p:spPr>
          <a:xfrm>
            <a:off x="301752" y="4329684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factor analysis</a:t>
            </a:r>
            <a:endParaRPr lang="en-US" sz="850" dirty="0"/>
          </a:p>
        </p:txBody>
      </p:sp>
      <p:sp>
        <p:nvSpPr>
          <p:cNvPr id="245" name="Text 243"/>
          <p:cNvSpPr/>
          <p:nvPr/>
        </p:nvSpPr>
        <p:spPr>
          <a:xfrm>
            <a:off x="2999232" y="4329684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246" name="Shape 244"/>
          <p:cNvSpPr/>
          <p:nvPr/>
        </p:nvSpPr>
        <p:spPr>
          <a:xfrm>
            <a:off x="3794760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7" name="Shape 245"/>
          <p:cNvSpPr/>
          <p:nvPr/>
        </p:nvSpPr>
        <p:spPr>
          <a:xfrm>
            <a:off x="4542905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8" name="Shape 246"/>
          <p:cNvSpPr/>
          <p:nvPr/>
        </p:nvSpPr>
        <p:spPr>
          <a:xfrm>
            <a:off x="5291051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9" name="Shape 247"/>
          <p:cNvSpPr/>
          <p:nvPr/>
        </p:nvSpPr>
        <p:spPr>
          <a:xfrm>
            <a:off x="6039196" y="432968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0" name="Shape 248"/>
          <p:cNvSpPr/>
          <p:nvPr/>
        </p:nvSpPr>
        <p:spPr>
          <a:xfrm>
            <a:off x="6039196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1" name="Shape 249"/>
          <p:cNvSpPr/>
          <p:nvPr/>
        </p:nvSpPr>
        <p:spPr>
          <a:xfrm>
            <a:off x="6787342" y="432968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2" name="Shape 250"/>
          <p:cNvSpPr/>
          <p:nvPr/>
        </p:nvSpPr>
        <p:spPr>
          <a:xfrm>
            <a:off x="6787342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3" name="Shape 251"/>
          <p:cNvSpPr/>
          <p:nvPr/>
        </p:nvSpPr>
        <p:spPr>
          <a:xfrm>
            <a:off x="7535487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4" name="Shape 252"/>
          <p:cNvSpPr/>
          <p:nvPr/>
        </p:nvSpPr>
        <p:spPr>
          <a:xfrm>
            <a:off x="8283633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5" name="Shape 253"/>
          <p:cNvSpPr/>
          <p:nvPr/>
        </p:nvSpPr>
        <p:spPr>
          <a:xfrm>
            <a:off x="9031778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6" name="Shape 254"/>
          <p:cNvSpPr/>
          <p:nvPr/>
        </p:nvSpPr>
        <p:spPr>
          <a:xfrm>
            <a:off x="9779924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7" name="Shape 255"/>
          <p:cNvSpPr/>
          <p:nvPr/>
        </p:nvSpPr>
        <p:spPr>
          <a:xfrm>
            <a:off x="10528069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8" name="Shape 256"/>
          <p:cNvSpPr/>
          <p:nvPr/>
        </p:nvSpPr>
        <p:spPr>
          <a:xfrm>
            <a:off x="11276215" y="432968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9" name="Shape 257"/>
          <p:cNvSpPr/>
          <p:nvPr/>
        </p:nvSpPr>
        <p:spPr>
          <a:xfrm>
            <a:off x="11276215" y="432968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0" name="Shape 258"/>
          <p:cNvSpPr/>
          <p:nvPr/>
        </p:nvSpPr>
        <p:spPr>
          <a:xfrm>
            <a:off x="9807356" y="4393692"/>
            <a:ext cx="1423139" cy="187452"/>
          </a:xfrm>
          <a:prstGeom prst="rect">
            <a:avLst/>
          </a:prstGeom>
          <a:solidFill>
            <a:srgbClr val="6B48FF">
              <a:alpha val="80000"/>
            </a:srgbClr>
          </a:solidFill>
          <a:ln w="6350">
            <a:solidFill>
              <a:srgbClr val="6B48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1" name="Shape 259"/>
          <p:cNvSpPr/>
          <p:nvPr/>
        </p:nvSpPr>
        <p:spPr>
          <a:xfrm>
            <a:off x="9807356" y="4393692"/>
            <a:ext cx="64008" cy="187452"/>
          </a:xfrm>
          <a:prstGeom prst="rect">
            <a:avLst/>
          </a:prstGeom>
          <a:solidFill>
            <a:srgbClr val="6B48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2" name="Text 260"/>
          <p:cNvSpPr/>
          <p:nvPr/>
        </p:nvSpPr>
        <p:spPr>
          <a:xfrm>
            <a:off x="10974463" y="4393692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63" name="Shape 261"/>
          <p:cNvSpPr/>
          <p:nvPr/>
        </p:nvSpPr>
        <p:spPr>
          <a:xfrm>
            <a:off x="137160" y="4663440"/>
            <a:ext cx="1197864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4" name="Shape 262"/>
          <p:cNvSpPr/>
          <p:nvPr/>
        </p:nvSpPr>
        <p:spPr>
          <a:xfrm>
            <a:off x="164592" y="4754880"/>
            <a:ext cx="91440" cy="132588"/>
          </a:xfrm>
          <a:prstGeom prst="rect">
            <a:avLst/>
          </a:prstGeom>
          <a:solidFill>
            <a:srgbClr val="6B48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5" name="Text 263"/>
          <p:cNvSpPr/>
          <p:nvPr/>
        </p:nvSpPr>
        <p:spPr>
          <a:xfrm>
            <a:off x="301752" y="4663440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recommendations</a:t>
            </a:r>
            <a:endParaRPr lang="en-US" sz="850" dirty="0"/>
          </a:p>
        </p:txBody>
      </p:sp>
      <p:sp>
        <p:nvSpPr>
          <p:cNvPr id="266" name="Text 264"/>
          <p:cNvSpPr/>
          <p:nvPr/>
        </p:nvSpPr>
        <p:spPr>
          <a:xfrm>
            <a:off x="2999232" y="4663440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267" name="Shape 265"/>
          <p:cNvSpPr/>
          <p:nvPr/>
        </p:nvSpPr>
        <p:spPr>
          <a:xfrm>
            <a:off x="3794760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8" name="Shape 266"/>
          <p:cNvSpPr/>
          <p:nvPr/>
        </p:nvSpPr>
        <p:spPr>
          <a:xfrm>
            <a:off x="4542905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9" name="Shape 267"/>
          <p:cNvSpPr/>
          <p:nvPr/>
        </p:nvSpPr>
        <p:spPr>
          <a:xfrm>
            <a:off x="5291051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0" name="Shape 268"/>
          <p:cNvSpPr/>
          <p:nvPr/>
        </p:nvSpPr>
        <p:spPr>
          <a:xfrm>
            <a:off x="6039196" y="466344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1" name="Shape 269"/>
          <p:cNvSpPr/>
          <p:nvPr/>
        </p:nvSpPr>
        <p:spPr>
          <a:xfrm>
            <a:off x="6039196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2" name="Shape 270"/>
          <p:cNvSpPr/>
          <p:nvPr/>
        </p:nvSpPr>
        <p:spPr>
          <a:xfrm>
            <a:off x="6787342" y="466344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3" name="Shape 271"/>
          <p:cNvSpPr/>
          <p:nvPr/>
        </p:nvSpPr>
        <p:spPr>
          <a:xfrm>
            <a:off x="6787342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4" name="Shape 272"/>
          <p:cNvSpPr/>
          <p:nvPr/>
        </p:nvSpPr>
        <p:spPr>
          <a:xfrm>
            <a:off x="7535487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5" name="Shape 273"/>
          <p:cNvSpPr/>
          <p:nvPr/>
        </p:nvSpPr>
        <p:spPr>
          <a:xfrm>
            <a:off x="8283633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6" name="Shape 274"/>
          <p:cNvSpPr/>
          <p:nvPr/>
        </p:nvSpPr>
        <p:spPr>
          <a:xfrm>
            <a:off x="9031778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7" name="Shape 275"/>
          <p:cNvSpPr/>
          <p:nvPr/>
        </p:nvSpPr>
        <p:spPr>
          <a:xfrm>
            <a:off x="9779924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8" name="Shape 276"/>
          <p:cNvSpPr/>
          <p:nvPr/>
        </p:nvSpPr>
        <p:spPr>
          <a:xfrm>
            <a:off x="10528069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9" name="Shape 277"/>
          <p:cNvSpPr/>
          <p:nvPr/>
        </p:nvSpPr>
        <p:spPr>
          <a:xfrm>
            <a:off x="11276215" y="4663440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0" name="Shape 278"/>
          <p:cNvSpPr/>
          <p:nvPr/>
        </p:nvSpPr>
        <p:spPr>
          <a:xfrm>
            <a:off x="11276215" y="4663440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1" name="Shape 279"/>
          <p:cNvSpPr/>
          <p:nvPr/>
        </p:nvSpPr>
        <p:spPr>
          <a:xfrm>
            <a:off x="9807356" y="4727448"/>
            <a:ext cx="1423139" cy="187452"/>
          </a:xfrm>
          <a:prstGeom prst="rect">
            <a:avLst/>
          </a:prstGeom>
          <a:solidFill>
            <a:srgbClr val="6B48FF">
              <a:alpha val="80000"/>
            </a:srgbClr>
          </a:solidFill>
          <a:ln w="6350">
            <a:solidFill>
              <a:srgbClr val="6B48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2" name="Shape 280"/>
          <p:cNvSpPr/>
          <p:nvPr/>
        </p:nvSpPr>
        <p:spPr>
          <a:xfrm>
            <a:off x="9807356" y="4727448"/>
            <a:ext cx="64008" cy="187452"/>
          </a:xfrm>
          <a:prstGeom prst="rect">
            <a:avLst/>
          </a:prstGeom>
          <a:solidFill>
            <a:srgbClr val="6B48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3" name="Text 281"/>
          <p:cNvSpPr/>
          <p:nvPr/>
        </p:nvSpPr>
        <p:spPr>
          <a:xfrm>
            <a:off x="10974463" y="4727448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284" name="Shape 282"/>
          <p:cNvSpPr/>
          <p:nvPr/>
        </p:nvSpPr>
        <p:spPr>
          <a:xfrm>
            <a:off x="137160" y="4997196"/>
            <a:ext cx="11978640" cy="3154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5" name="Shape 283"/>
          <p:cNvSpPr/>
          <p:nvPr/>
        </p:nvSpPr>
        <p:spPr>
          <a:xfrm>
            <a:off x="164592" y="5088636"/>
            <a:ext cx="91440" cy="132588"/>
          </a:xfrm>
          <a:prstGeom prst="rect">
            <a:avLst/>
          </a:prstGeom>
          <a:solidFill>
            <a:srgbClr val="6B48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6" name="Text 284"/>
          <p:cNvSpPr/>
          <p:nvPr/>
        </p:nvSpPr>
        <p:spPr>
          <a:xfrm>
            <a:off x="301752" y="4997196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initiatives</a:t>
            </a:r>
            <a:endParaRPr lang="en-US" sz="850" dirty="0"/>
          </a:p>
        </p:txBody>
      </p:sp>
      <p:sp>
        <p:nvSpPr>
          <p:cNvPr id="287" name="Text 285"/>
          <p:cNvSpPr/>
          <p:nvPr/>
        </p:nvSpPr>
        <p:spPr>
          <a:xfrm>
            <a:off x="2999232" y="4997196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288" name="Shape 286"/>
          <p:cNvSpPr/>
          <p:nvPr/>
        </p:nvSpPr>
        <p:spPr>
          <a:xfrm>
            <a:off x="3794760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9" name="Shape 287"/>
          <p:cNvSpPr/>
          <p:nvPr/>
        </p:nvSpPr>
        <p:spPr>
          <a:xfrm>
            <a:off x="4542905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0" name="Shape 288"/>
          <p:cNvSpPr/>
          <p:nvPr/>
        </p:nvSpPr>
        <p:spPr>
          <a:xfrm>
            <a:off x="5291051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1" name="Shape 289"/>
          <p:cNvSpPr/>
          <p:nvPr/>
        </p:nvSpPr>
        <p:spPr>
          <a:xfrm>
            <a:off x="6039196" y="499719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2" name="Shape 290"/>
          <p:cNvSpPr/>
          <p:nvPr/>
        </p:nvSpPr>
        <p:spPr>
          <a:xfrm>
            <a:off x="6039196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3" name="Shape 291"/>
          <p:cNvSpPr/>
          <p:nvPr/>
        </p:nvSpPr>
        <p:spPr>
          <a:xfrm>
            <a:off x="6787342" y="499719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4" name="Shape 292"/>
          <p:cNvSpPr/>
          <p:nvPr/>
        </p:nvSpPr>
        <p:spPr>
          <a:xfrm>
            <a:off x="6787342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5" name="Shape 293"/>
          <p:cNvSpPr/>
          <p:nvPr/>
        </p:nvSpPr>
        <p:spPr>
          <a:xfrm>
            <a:off x="7535487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6" name="Shape 294"/>
          <p:cNvSpPr/>
          <p:nvPr/>
        </p:nvSpPr>
        <p:spPr>
          <a:xfrm>
            <a:off x="8283633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7" name="Shape 295"/>
          <p:cNvSpPr/>
          <p:nvPr/>
        </p:nvSpPr>
        <p:spPr>
          <a:xfrm>
            <a:off x="9031778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8" name="Shape 296"/>
          <p:cNvSpPr/>
          <p:nvPr/>
        </p:nvSpPr>
        <p:spPr>
          <a:xfrm>
            <a:off x="9779924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9" name="Shape 297"/>
          <p:cNvSpPr/>
          <p:nvPr/>
        </p:nvSpPr>
        <p:spPr>
          <a:xfrm>
            <a:off x="10528069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0" name="Shape 298"/>
          <p:cNvSpPr/>
          <p:nvPr/>
        </p:nvSpPr>
        <p:spPr>
          <a:xfrm>
            <a:off x="11276215" y="4997196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1" name="Shape 299"/>
          <p:cNvSpPr/>
          <p:nvPr/>
        </p:nvSpPr>
        <p:spPr>
          <a:xfrm>
            <a:off x="11276215" y="4997196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2" name="Shape 300"/>
          <p:cNvSpPr/>
          <p:nvPr/>
        </p:nvSpPr>
        <p:spPr>
          <a:xfrm>
            <a:off x="10555501" y="5061204"/>
            <a:ext cx="674993" cy="187452"/>
          </a:xfrm>
          <a:prstGeom prst="rect">
            <a:avLst/>
          </a:prstGeom>
          <a:solidFill>
            <a:srgbClr val="6B48FF">
              <a:alpha val="80000"/>
            </a:srgbClr>
          </a:solidFill>
          <a:ln w="6350">
            <a:solidFill>
              <a:srgbClr val="6B48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3" name="Shape 301"/>
          <p:cNvSpPr/>
          <p:nvPr/>
        </p:nvSpPr>
        <p:spPr>
          <a:xfrm>
            <a:off x="10555501" y="5061204"/>
            <a:ext cx="64008" cy="187452"/>
          </a:xfrm>
          <a:prstGeom prst="rect">
            <a:avLst/>
          </a:prstGeom>
          <a:solidFill>
            <a:srgbClr val="6B48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4" name="Text 302"/>
          <p:cNvSpPr/>
          <p:nvPr/>
        </p:nvSpPr>
        <p:spPr>
          <a:xfrm>
            <a:off x="10974463" y="5061204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4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05" name="Shape 303"/>
          <p:cNvSpPr/>
          <p:nvPr/>
        </p:nvSpPr>
        <p:spPr>
          <a:xfrm>
            <a:off x="137160" y="5330952"/>
            <a:ext cx="1197864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6" name="Shape 304"/>
          <p:cNvSpPr/>
          <p:nvPr/>
        </p:nvSpPr>
        <p:spPr>
          <a:xfrm>
            <a:off x="164592" y="5422392"/>
            <a:ext cx="91440" cy="1325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7" name="Text 305"/>
          <p:cNvSpPr/>
          <p:nvPr/>
        </p:nvSpPr>
        <p:spPr>
          <a:xfrm>
            <a:off x="301752" y="5330952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PowerPoint presentation</a:t>
            </a:r>
            <a:endParaRPr lang="en-US" sz="850" dirty="0"/>
          </a:p>
        </p:txBody>
      </p:sp>
      <p:sp>
        <p:nvSpPr>
          <p:cNvPr id="308" name="Text 306"/>
          <p:cNvSpPr/>
          <p:nvPr/>
        </p:nvSpPr>
        <p:spPr>
          <a:xfrm>
            <a:off x="2999232" y="5330952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50" dirty="0"/>
          </a:p>
        </p:txBody>
      </p:sp>
      <p:sp>
        <p:nvSpPr>
          <p:cNvPr id="309" name="Shape 307"/>
          <p:cNvSpPr/>
          <p:nvPr/>
        </p:nvSpPr>
        <p:spPr>
          <a:xfrm>
            <a:off x="3794760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0" name="Shape 308"/>
          <p:cNvSpPr/>
          <p:nvPr/>
        </p:nvSpPr>
        <p:spPr>
          <a:xfrm>
            <a:off x="4542905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1" name="Shape 309"/>
          <p:cNvSpPr/>
          <p:nvPr/>
        </p:nvSpPr>
        <p:spPr>
          <a:xfrm>
            <a:off x="5291051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2" name="Shape 310"/>
          <p:cNvSpPr/>
          <p:nvPr/>
        </p:nvSpPr>
        <p:spPr>
          <a:xfrm>
            <a:off x="6039196" y="533095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3" name="Shape 311"/>
          <p:cNvSpPr/>
          <p:nvPr/>
        </p:nvSpPr>
        <p:spPr>
          <a:xfrm>
            <a:off x="6039196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4" name="Shape 312"/>
          <p:cNvSpPr/>
          <p:nvPr/>
        </p:nvSpPr>
        <p:spPr>
          <a:xfrm>
            <a:off x="6787342" y="533095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5" name="Shape 313"/>
          <p:cNvSpPr/>
          <p:nvPr/>
        </p:nvSpPr>
        <p:spPr>
          <a:xfrm>
            <a:off x="6787342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6" name="Shape 314"/>
          <p:cNvSpPr/>
          <p:nvPr/>
        </p:nvSpPr>
        <p:spPr>
          <a:xfrm>
            <a:off x="7535487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7" name="Shape 315"/>
          <p:cNvSpPr/>
          <p:nvPr/>
        </p:nvSpPr>
        <p:spPr>
          <a:xfrm>
            <a:off x="8283633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8" name="Shape 316"/>
          <p:cNvSpPr/>
          <p:nvPr/>
        </p:nvSpPr>
        <p:spPr>
          <a:xfrm>
            <a:off x="9031778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9" name="Shape 317"/>
          <p:cNvSpPr/>
          <p:nvPr/>
        </p:nvSpPr>
        <p:spPr>
          <a:xfrm>
            <a:off x="9779924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0" name="Shape 318"/>
          <p:cNvSpPr/>
          <p:nvPr/>
        </p:nvSpPr>
        <p:spPr>
          <a:xfrm>
            <a:off x="10528069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1" name="Shape 319"/>
          <p:cNvSpPr/>
          <p:nvPr/>
        </p:nvSpPr>
        <p:spPr>
          <a:xfrm>
            <a:off x="11276215" y="5330952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2" name="Shape 320"/>
          <p:cNvSpPr/>
          <p:nvPr/>
        </p:nvSpPr>
        <p:spPr>
          <a:xfrm>
            <a:off x="11276215" y="5330952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3" name="Shape 321"/>
          <p:cNvSpPr/>
          <p:nvPr/>
        </p:nvSpPr>
        <p:spPr>
          <a:xfrm>
            <a:off x="10555501" y="5394960"/>
            <a:ext cx="1423139" cy="187452"/>
          </a:xfrm>
          <a:prstGeom prst="rect">
            <a:avLst/>
          </a:prstGeom>
          <a:solidFill>
            <a:srgbClr val="02C39A">
              <a:alpha val="80000"/>
            </a:srgbClr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4" name="Shape 322"/>
          <p:cNvSpPr/>
          <p:nvPr/>
        </p:nvSpPr>
        <p:spPr>
          <a:xfrm>
            <a:off x="10555501" y="5394960"/>
            <a:ext cx="64008" cy="1874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5" name="Text 323"/>
          <p:cNvSpPr/>
          <p:nvPr/>
        </p:nvSpPr>
        <p:spPr>
          <a:xfrm>
            <a:off x="11722608" y="5394960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26" name="Shape 324"/>
          <p:cNvSpPr/>
          <p:nvPr/>
        </p:nvSpPr>
        <p:spPr>
          <a:xfrm>
            <a:off x="137160" y="5664708"/>
            <a:ext cx="11978640" cy="315468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7" name="Shape 325"/>
          <p:cNvSpPr/>
          <p:nvPr/>
        </p:nvSpPr>
        <p:spPr>
          <a:xfrm>
            <a:off x="164592" y="5756148"/>
            <a:ext cx="91440" cy="1325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8" name="Text 326"/>
          <p:cNvSpPr/>
          <p:nvPr/>
        </p:nvSpPr>
        <p:spPr>
          <a:xfrm>
            <a:off x="301752" y="5664708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charts &amp; visualisations</a:t>
            </a:r>
            <a:endParaRPr lang="en-US" sz="850" dirty="0"/>
          </a:p>
        </p:txBody>
      </p:sp>
      <p:sp>
        <p:nvSpPr>
          <p:cNvPr id="329" name="Text 327"/>
          <p:cNvSpPr/>
          <p:nvPr/>
        </p:nvSpPr>
        <p:spPr>
          <a:xfrm>
            <a:off x="2999232" y="5664708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50" dirty="0"/>
          </a:p>
        </p:txBody>
      </p:sp>
      <p:sp>
        <p:nvSpPr>
          <p:cNvPr id="330" name="Shape 328"/>
          <p:cNvSpPr/>
          <p:nvPr/>
        </p:nvSpPr>
        <p:spPr>
          <a:xfrm>
            <a:off x="3794760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1" name="Shape 329"/>
          <p:cNvSpPr/>
          <p:nvPr/>
        </p:nvSpPr>
        <p:spPr>
          <a:xfrm>
            <a:off x="4542905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2" name="Shape 330"/>
          <p:cNvSpPr/>
          <p:nvPr/>
        </p:nvSpPr>
        <p:spPr>
          <a:xfrm>
            <a:off x="5291051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3" name="Shape 331"/>
          <p:cNvSpPr/>
          <p:nvPr/>
        </p:nvSpPr>
        <p:spPr>
          <a:xfrm>
            <a:off x="6039196" y="566470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4" name="Shape 332"/>
          <p:cNvSpPr/>
          <p:nvPr/>
        </p:nvSpPr>
        <p:spPr>
          <a:xfrm>
            <a:off x="6039196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5" name="Shape 333"/>
          <p:cNvSpPr/>
          <p:nvPr/>
        </p:nvSpPr>
        <p:spPr>
          <a:xfrm>
            <a:off x="6787342" y="566470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6" name="Shape 334"/>
          <p:cNvSpPr/>
          <p:nvPr/>
        </p:nvSpPr>
        <p:spPr>
          <a:xfrm>
            <a:off x="6787342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7" name="Shape 335"/>
          <p:cNvSpPr/>
          <p:nvPr/>
        </p:nvSpPr>
        <p:spPr>
          <a:xfrm>
            <a:off x="7535487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8" name="Shape 336"/>
          <p:cNvSpPr/>
          <p:nvPr/>
        </p:nvSpPr>
        <p:spPr>
          <a:xfrm>
            <a:off x="8283633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9" name="Shape 337"/>
          <p:cNvSpPr/>
          <p:nvPr/>
        </p:nvSpPr>
        <p:spPr>
          <a:xfrm>
            <a:off x="9031778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0" name="Shape 338"/>
          <p:cNvSpPr/>
          <p:nvPr/>
        </p:nvSpPr>
        <p:spPr>
          <a:xfrm>
            <a:off x="9779924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1" name="Shape 339"/>
          <p:cNvSpPr/>
          <p:nvPr/>
        </p:nvSpPr>
        <p:spPr>
          <a:xfrm>
            <a:off x="10528069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2" name="Shape 340"/>
          <p:cNvSpPr/>
          <p:nvPr/>
        </p:nvSpPr>
        <p:spPr>
          <a:xfrm>
            <a:off x="11276215" y="5664708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3" name="Shape 341"/>
          <p:cNvSpPr/>
          <p:nvPr/>
        </p:nvSpPr>
        <p:spPr>
          <a:xfrm>
            <a:off x="11276215" y="5664708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4" name="Shape 342"/>
          <p:cNvSpPr/>
          <p:nvPr/>
        </p:nvSpPr>
        <p:spPr>
          <a:xfrm>
            <a:off x="10555501" y="5728716"/>
            <a:ext cx="1423139" cy="187452"/>
          </a:xfrm>
          <a:prstGeom prst="rect">
            <a:avLst/>
          </a:prstGeom>
          <a:solidFill>
            <a:srgbClr val="02C39A">
              <a:alpha val="80000"/>
            </a:srgbClr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5" name="Shape 343"/>
          <p:cNvSpPr/>
          <p:nvPr/>
        </p:nvSpPr>
        <p:spPr>
          <a:xfrm>
            <a:off x="10555501" y="5728716"/>
            <a:ext cx="64008" cy="1874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6" name="Text 344"/>
          <p:cNvSpPr/>
          <p:nvPr/>
        </p:nvSpPr>
        <p:spPr>
          <a:xfrm>
            <a:off x="11722608" y="5728716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47" name="Shape 345"/>
          <p:cNvSpPr/>
          <p:nvPr/>
        </p:nvSpPr>
        <p:spPr>
          <a:xfrm>
            <a:off x="137160" y="5998464"/>
            <a:ext cx="11978640" cy="3154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8" name="Shape 346"/>
          <p:cNvSpPr/>
          <p:nvPr/>
        </p:nvSpPr>
        <p:spPr>
          <a:xfrm>
            <a:off x="164592" y="6089904"/>
            <a:ext cx="91440" cy="1325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9" name="Text 347"/>
          <p:cNvSpPr/>
          <p:nvPr/>
        </p:nvSpPr>
        <p:spPr>
          <a:xfrm>
            <a:off x="301752" y="5998464"/>
            <a:ext cx="265176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&amp; submission</a:t>
            </a:r>
            <a:endParaRPr lang="en-US" sz="850" dirty="0"/>
          </a:p>
        </p:txBody>
      </p:sp>
      <p:sp>
        <p:nvSpPr>
          <p:cNvPr id="350" name="Text 348"/>
          <p:cNvSpPr/>
          <p:nvPr/>
        </p:nvSpPr>
        <p:spPr>
          <a:xfrm>
            <a:off x="2999232" y="5998464"/>
            <a:ext cx="6400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50" dirty="0"/>
          </a:p>
        </p:txBody>
      </p:sp>
      <p:sp>
        <p:nvSpPr>
          <p:cNvPr id="351" name="Shape 349"/>
          <p:cNvSpPr/>
          <p:nvPr/>
        </p:nvSpPr>
        <p:spPr>
          <a:xfrm>
            <a:off x="3794760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2" name="Shape 350"/>
          <p:cNvSpPr/>
          <p:nvPr/>
        </p:nvSpPr>
        <p:spPr>
          <a:xfrm>
            <a:off x="4542905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3" name="Shape 351"/>
          <p:cNvSpPr/>
          <p:nvPr/>
        </p:nvSpPr>
        <p:spPr>
          <a:xfrm>
            <a:off x="5291051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4" name="Shape 352"/>
          <p:cNvSpPr/>
          <p:nvPr/>
        </p:nvSpPr>
        <p:spPr>
          <a:xfrm>
            <a:off x="6039196" y="599846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5" name="Shape 353"/>
          <p:cNvSpPr/>
          <p:nvPr/>
        </p:nvSpPr>
        <p:spPr>
          <a:xfrm>
            <a:off x="6039196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6" name="Shape 354"/>
          <p:cNvSpPr/>
          <p:nvPr/>
        </p:nvSpPr>
        <p:spPr>
          <a:xfrm>
            <a:off x="6787342" y="599846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7" name="Shape 355"/>
          <p:cNvSpPr/>
          <p:nvPr/>
        </p:nvSpPr>
        <p:spPr>
          <a:xfrm>
            <a:off x="6787342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8" name="Shape 356"/>
          <p:cNvSpPr/>
          <p:nvPr/>
        </p:nvSpPr>
        <p:spPr>
          <a:xfrm>
            <a:off x="7535487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9" name="Shape 357"/>
          <p:cNvSpPr/>
          <p:nvPr/>
        </p:nvSpPr>
        <p:spPr>
          <a:xfrm>
            <a:off x="8283633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0" name="Shape 358"/>
          <p:cNvSpPr/>
          <p:nvPr/>
        </p:nvSpPr>
        <p:spPr>
          <a:xfrm>
            <a:off x="9031778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1" name="Shape 359"/>
          <p:cNvSpPr/>
          <p:nvPr/>
        </p:nvSpPr>
        <p:spPr>
          <a:xfrm>
            <a:off x="9779924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2" name="Shape 360"/>
          <p:cNvSpPr/>
          <p:nvPr/>
        </p:nvSpPr>
        <p:spPr>
          <a:xfrm>
            <a:off x="10528069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3" name="Shape 361"/>
          <p:cNvSpPr/>
          <p:nvPr/>
        </p:nvSpPr>
        <p:spPr>
          <a:xfrm>
            <a:off x="11276215" y="5998464"/>
            <a:ext cx="729857" cy="315468"/>
          </a:xfrm>
          <a:prstGeom prst="rect">
            <a:avLst/>
          </a:prstGeom>
          <a:solidFill>
            <a:srgbClr val="F1F5F9">
              <a:alpha val="7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4" name="Shape 362"/>
          <p:cNvSpPr/>
          <p:nvPr/>
        </p:nvSpPr>
        <p:spPr>
          <a:xfrm>
            <a:off x="11276215" y="5998464"/>
            <a:ext cx="9144" cy="315468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5" name="Shape 363"/>
          <p:cNvSpPr/>
          <p:nvPr/>
        </p:nvSpPr>
        <p:spPr>
          <a:xfrm>
            <a:off x="11303647" y="6062472"/>
            <a:ext cx="674993" cy="187452"/>
          </a:xfrm>
          <a:prstGeom prst="rect">
            <a:avLst/>
          </a:prstGeom>
          <a:solidFill>
            <a:srgbClr val="02C39A">
              <a:alpha val="80000"/>
            </a:srgbClr>
          </a:solidFill>
          <a:ln w="63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6" name="Shape 364"/>
          <p:cNvSpPr/>
          <p:nvPr/>
        </p:nvSpPr>
        <p:spPr>
          <a:xfrm>
            <a:off x="11303647" y="6062472"/>
            <a:ext cx="64008" cy="1874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7" name="Text 365"/>
          <p:cNvSpPr/>
          <p:nvPr/>
        </p:nvSpPr>
        <p:spPr>
          <a:xfrm>
            <a:off x="11722608" y="6062472"/>
            <a:ext cx="228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368" name="Shape 366"/>
          <p:cNvSpPr/>
          <p:nvPr/>
        </p:nvSpPr>
        <p:spPr>
          <a:xfrm>
            <a:off x="11276215" y="658368"/>
            <a:ext cx="36576" cy="56738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9" name="Text 367"/>
          <p:cNvSpPr/>
          <p:nvPr/>
        </p:nvSpPr>
        <p:spPr>
          <a:xfrm>
            <a:off x="11020183" y="4572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50" dirty="0"/>
          </a:p>
        </p:txBody>
      </p:sp>
      <p:sp>
        <p:nvSpPr>
          <p:cNvPr id="370" name="Text 368"/>
          <p:cNvSpPr/>
          <p:nvPr/>
        </p:nvSpPr>
        <p:spPr>
          <a:xfrm>
            <a:off x="164592" y="644194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800" dirty="0"/>
          </a:p>
        </p:txBody>
      </p:sp>
      <p:sp>
        <p:nvSpPr>
          <p:cNvPr id="371" name="Shape 369"/>
          <p:cNvSpPr/>
          <p:nvPr/>
        </p:nvSpPr>
        <p:spPr>
          <a:xfrm>
            <a:off x="868680" y="6478524"/>
            <a:ext cx="201168" cy="14630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2" name="Text 370"/>
          <p:cNvSpPr/>
          <p:nvPr/>
        </p:nvSpPr>
        <p:spPr>
          <a:xfrm>
            <a:off x="1124712" y="64419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Data Collection</a:t>
            </a:r>
            <a:endParaRPr lang="en-US" sz="800" dirty="0"/>
          </a:p>
        </p:txBody>
      </p:sp>
      <p:sp>
        <p:nvSpPr>
          <p:cNvPr id="373" name="Shape 371"/>
          <p:cNvSpPr/>
          <p:nvPr/>
        </p:nvSpPr>
        <p:spPr>
          <a:xfrm>
            <a:off x="2496312" y="6478524"/>
            <a:ext cx="201168" cy="14630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4" name="Text 372"/>
          <p:cNvSpPr/>
          <p:nvPr/>
        </p:nvSpPr>
        <p:spPr>
          <a:xfrm>
            <a:off x="2752344" y="64419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Data Preparation</a:t>
            </a:r>
            <a:endParaRPr lang="en-US" sz="800" dirty="0"/>
          </a:p>
        </p:txBody>
      </p:sp>
      <p:sp>
        <p:nvSpPr>
          <p:cNvPr id="375" name="Shape 373"/>
          <p:cNvSpPr/>
          <p:nvPr/>
        </p:nvSpPr>
        <p:spPr>
          <a:xfrm>
            <a:off x="4123944" y="6478524"/>
            <a:ext cx="201168" cy="14630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6" name="Text 374"/>
          <p:cNvSpPr/>
          <p:nvPr/>
        </p:nvSpPr>
        <p:spPr>
          <a:xfrm>
            <a:off x="4379976" y="64419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Analysis</a:t>
            </a:r>
            <a:endParaRPr lang="en-US" sz="800" dirty="0"/>
          </a:p>
        </p:txBody>
      </p:sp>
      <p:sp>
        <p:nvSpPr>
          <p:cNvPr id="377" name="Shape 375"/>
          <p:cNvSpPr/>
          <p:nvPr/>
        </p:nvSpPr>
        <p:spPr>
          <a:xfrm>
            <a:off x="5751576" y="6478524"/>
            <a:ext cx="201168" cy="146304"/>
          </a:xfrm>
          <a:prstGeom prst="rect">
            <a:avLst/>
          </a:prstGeom>
          <a:solidFill>
            <a:srgbClr val="6B48F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8" name="Text 376"/>
          <p:cNvSpPr/>
          <p:nvPr/>
        </p:nvSpPr>
        <p:spPr>
          <a:xfrm>
            <a:off x="6007608" y="64419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Insights</a:t>
            </a:r>
            <a:endParaRPr lang="en-US" sz="800" dirty="0"/>
          </a:p>
        </p:txBody>
      </p:sp>
      <p:sp>
        <p:nvSpPr>
          <p:cNvPr id="379" name="Shape 377"/>
          <p:cNvSpPr/>
          <p:nvPr/>
        </p:nvSpPr>
        <p:spPr>
          <a:xfrm>
            <a:off x="7379208" y="6478524"/>
            <a:ext cx="201168" cy="14630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0" name="Text 378"/>
          <p:cNvSpPr/>
          <p:nvPr/>
        </p:nvSpPr>
        <p:spPr>
          <a:xfrm>
            <a:off x="7635240" y="64419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Presentation</a:t>
            </a:r>
            <a:endParaRPr lang="en-US" sz="800" dirty="0"/>
          </a:p>
        </p:txBody>
      </p:sp>
      <p:sp>
        <p:nvSpPr>
          <p:cNvPr id="381" name="Shape 379"/>
          <p:cNvSpPr/>
          <p:nvPr/>
        </p:nvSpPr>
        <p:spPr>
          <a:xfrm>
            <a:off x="9006840" y="6478524"/>
            <a:ext cx="201168" cy="146304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2" name="Text 380"/>
          <p:cNvSpPr/>
          <p:nvPr/>
        </p:nvSpPr>
        <p:spPr>
          <a:xfrm>
            <a:off x="9262872" y="64419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800" dirty="0"/>
          </a:p>
        </p:txBody>
      </p:sp>
      <p:sp>
        <p:nvSpPr>
          <p:cNvPr id="383" name="Shape 381"/>
          <p:cNvSpPr/>
          <p:nvPr/>
        </p:nvSpPr>
        <p:spPr>
          <a:xfrm>
            <a:off x="10634472" y="6478524"/>
            <a:ext cx="201168" cy="14630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4" name="Text 382"/>
          <p:cNvSpPr/>
          <p:nvPr/>
        </p:nvSpPr>
        <p:spPr>
          <a:xfrm>
            <a:off x="10890504" y="644194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(19 Apr)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168</Words>
  <Application>Microsoft Office PowerPoint</Application>
  <PresentationFormat>Widescreen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Project Gantt Chart</dc:title>
  <dc:subject>PptxGenJS Presentation</dc:subject>
  <dc:creator>PptxGenJS</dc:creator>
  <cp:lastModifiedBy>Alinah Matlala</cp:lastModifiedBy>
  <cp:revision>2</cp:revision>
  <dcterms:created xsi:type="dcterms:W3CDTF">2026-04-20T00:58:53Z</dcterms:created>
  <dcterms:modified xsi:type="dcterms:W3CDTF">2026-04-20T10:20:11Z</dcterms:modified>
</cp:coreProperties>
</file>